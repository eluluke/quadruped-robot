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2f1e6ec69428f" /><Relationship Type="http://schemas.openxmlformats.org/officeDocument/2006/relationships/extended-properties" Target="/docProps/app.xml" Id="Re325ed0172a34c74" /><Relationship Type="http://schemas.openxmlformats.org/officeDocument/2006/relationships/officeDocument" Target="/ppt/presentation.xml" Id="Rb6da98d7accd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8bc1477a34193"/>
  </p:sldMasterIdLst>
  <p:notesMasterIdLst>
    <p:notesMasterId xmlns:r="http://schemas.openxmlformats.org/officeDocument/2006/relationships" r:id="Rd7b794c44ab34a94"/>
  </p:notesMasterIdLst>
  <p:sldIdLst>
    <p:sldId xmlns:r="http://schemas.openxmlformats.org/officeDocument/2006/relationships" id="256" r:id="R72088089f9094754"/>
    <p:sldId xmlns:r="http://schemas.openxmlformats.org/officeDocument/2006/relationships" id="257" r:id="Rd8e8cd81ddb840ed"/>
    <p:sldId xmlns:r="http://schemas.openxmlformats.org/officeDocument/2006/relationships" id="258" r:id="Rc3a2d857fcbc4b8b"/>
    <p:sldId xmlns:r="http://schemas.openxmlformats.org/officeDocument/2006/relationships" id="259" r:id="R0a8f00dc790f4cd9"/>
    <p:sldId xmlns:r="http://schemas.openxmlformats.org/officeDocument/2006/relationships" id="260" r:id="Rd9a6862f78204589"/>
    <p:sldId xmlns:r="http://schemas.openxmlformats.org/officeDocument/2006/relationships" id="261" r:id="Rb3b2b5d7bc254fb5"/>
    <p:sldId xmlns:r="http://schemas.openxmlformats.org/officeDocument/2006/relationships" id="262" r:id="R4e96241c289140b6"/>
    <p:sldId xmlns:r="http://schemas.openxmlformats.org/officeDocument/2006/relationships" id="263" r:id="R3def753683d642e0"/>
    <p:sldId xmlns:r="http://schemas.openxmlformats.org/officeDocument/2006/relationships" id="264" r:id="Rc7c83a1cc95f492f"/>
    <p:sldId xmlns:r="http://schemas.openxmlformats.org/officeDocument/2006/relationships" id="265" r:id="Rc3b4bf2806a24fd0"/>
    <p:sldId xmlns:r="http://schemas.openxmlformats.org/officeDocument/2006/relationships" id="266" r:id="R2ac9c30c85694f72"/>
    <p:sldId xmlns:r="http://schemas.openxmlformats.org/officeDocument/2006/relationships" id="267" r:id="Rc1cbe88098e8400d"/>
    <p:sldId xmlns:r="http://schemas.openxmlformats.org/officeDocument/2006/relationships" id="268" r:id="R7f5556aac29442b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a1aa549e94c17" /><Relationship Type="http://schemas.openxmlformats.org/officeDocument/2006/relationships/slideMaster" Target="/ppt/slideMasters/slideMaster1.xml" Id="R2308bc1477a34193" /><Relationship Type="http://schemas.openxmlformats.org/officeDocument/2006/relationships/notesMaster" Target="/ppt/notesMasters/notesMaster1.xml" Id="Rd7b794c44ab34a94" /><Relationship Type="http://schemas.openxmlformats.org/officeDocument/2006/relationships/presProps" Target="/ppt/presProps.xml" Id="R1e7d33ff88ec43e6" /><Relationship Type="http://schemas.openxmlformats.org/officeDocument/2006/relationships/tableStyles" Target="/ppt/tableStyles.xml" Id="R541187d1a4784382" /><Relationship Type="http://schemas.openxmlformats.org/officeDocument/2006/relationships/slide" Target="/ppt/slides/slide1.xml" Id="R72088089f9094754" /><Relationship Type="http://schemas.openxmlformats.org/officeDocument/2006/relationships/slide" Target="/ppt/slides/slide2.xml" Id="Rd8e8cd81ddb840ed" /><Relationship Type="http://schemas.openxmlformats.org/officeDocument/2006/relationships/slide" Target="/ppt/slides/slide3.xml" Id="Rc3a2d857fcbc4b8b" /><Relationship Type="http://schemas.openxmlformats.org/officeDocument/2006/relationships/slide" Target="/ppt/slides/slide4.xml" Id="R0a8f00dc790f4cd9" /><Relationship Type="http://schemas.openxmlformats.org/officeDocument/2006/relationships/slide" Target="/ppt/slides/slide5.xml" Id="Rd9a6862f78204589" /><Relationship Type="http://schemas.openxmlformats.org/officeDocument/2006/relationships/slide" Target="/ppt/slides/slide6.xml" Id="Rb3b2b5d7bc254fb5" /><Relationship Type="http://schemas.openxmlformats.org/officeDocument/2006/relationships/slide" Target="/ppt/slides/slide7.xml" Id="R4e96241c289140b6" /><Relationship Type="http://schemas.openxmlformats.org/officeDocument/2006/relationships/slide" Target="/ppt/slides/slide8.xml" Id="R3def753683d642e0" /><Relationship Type="http://schemas.openxmlformats.org/officeDocument/2006/relationships/slide" Target="/ppt/slides/slide9.xml" Id="Rc7c83a1cc95f492f" /><Relationship Type="http://schemas.openxmlformats.org/officeDocument/2006/relationships/slide" Target="/ppt/slides/slide10.xml" Id="Rc3b4bf2806a24fd0" /><Relationship Type="http://schemas.openxmlformats.org/officeDocument/2006/relationships/slide" Target="/ppt/slides/slide11.xml" Id="R2ac9c30c85694f72" /><Relationship Type="http://schemas.openxmlformats.org/officeDocument/2006/relationships/slide" Target="/ppt/slides/slide12.xml" Id="Rc1cbe88098e8400d" /><Relationship Type="http://schemas.openxmlformats.org/officeDocument/2006/relationships/slide" Target="/ppt/slides/slide13.xml" Id="R7f5556aac294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0d431e137b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25d94ce8143eb" /><Relationship Type="http://schemas.openxmlformats.org/officeDocument/2006/relationships/notesMaster" Target="/ppt/notesMasters/notesMaster1.xml" Id="R8d09357c462443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984d569a14fa8" /><Relationship Type="http://schemas.openxmlformats.org/officeDocument/2006/relationships/notesMaster" Target="/ppt/notesMasters/notesMaster1.xml" Id="Rcade822fcd6544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761477ae7a42fc" /><Relationship Type="http://schemas.openxmlformats.org/officeDocument/2006/relationships/notesMaster" Target="/ppt/notesMasters/notesMaster1.xml" Id="R698d433ff81347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5fd4bb26a14144" /><Relationship Type="http://schemas.openxmlformats.org/officeDocument/2006/relationships/notesMaster" Target="/ppt/notesMasters/notesMaster1.xml" Id="R11501fc31ae2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60be46ade41d8" /><Relationship Type="http://schemas.openxmlformats.org/officeDocument/2006/relationships/notesMaster" Target="/ppt/notesMasters/notesMaster1.xml" Id="Rc37db7c56c64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6497b0340e4a3a" /><Relationship Type="http://schemas.openxmlformats.org/officeDocument/2006/relationships/notesMaster" Target="/ppt/notesMasters/notesMaster1.xml" Id="R5a71e0cdbf12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ba34a856d5492d" /><Relationship Type="http://schemas.openxmlformats.org/officeDocument/2006/relationships/notesMaster" Target="/ppt/notesMasters/notesMaster1.xml" Id="R9dd02101142a45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8b7621c2f4799" /><Relationship Type="http://schemas.openxmlformats.org/officeDocument/2006/relationships/notesMaster" Target="/ppt/notesMasters/notesMaster1.xml" Id="R6ca5778968ea4e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3ed7583cab48dd" /><Relationship Type="http://schemas.openxmlformats.org/officeDocument/2006/relationships/notesMaster" Target="/ppt/notesMasters/notesMaster1.xml" Id="R761495a6d5ce41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4a812f286648ae" /><Relationship Type="http://schemas.openxmlformats.org/officeDocument/2006/relationships/notesMaster" Target="/ppt/notesMasters/notesMaster1.xml" Id="R35f3810128a74c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de0370bdfb425a" /><Relationship Type="http://schemas.openxmlformats.org/officeDocument/2006/relationships/notesMaster" Target="/ppt/notesMasters/notesMaster1.xml" Id="R755b6d8216a04b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9e26e875b84487" /><Relationship Type="http://schemas.openxmlformats.org/officeDocument/2006/relationships/notesMaster" Target="/ppt/notesMasters/notesMaster1.xml" Id="Re632d08e0b3042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5056b69eba49d7" /><Relationship Type="http://schemas.openxmlformats.org/officeDocument/2006/relationships/notesMaster" Target="/ppt/notesMasters/notesMaster1.xml" Id="R77acad73db1c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an engineering onboarding session, not just a demo recap.</a:t>
            </a:r>
          </a:p>
          <a:p xmlns:a="http://schemas.openxmlformats.org/drawingml/2006/main">
            <a:r>
              <a:t>Use Aug 29, 2026 because the user said the presentation is tomorrow from the Aug 28, 2026 working date.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README.md:3-8 states this is the C++ quadruped control repo and motor-control targets use Raspberry Pi/Linux SocketCAN.</a:t>
            </a:r>
          </a:p>
          <a:p xmlns:a="http://schemas.openxmlformats.org/drawingml/2006/main">
            <a:r>
              <a:t>- CMakeLists.txt:10-11,25,58,119,168-172 show C++23, low-level actuator, robot model, IMU reader, and quadruped_robot_locomotion_v3 target linkage.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talk track: this project is both a robot and a training ground. New teammates should see where their work can plug in.</a:t>
            </a:r>
          </a:p>
          <a:p xmlns:a="http://schemas.openxmlformats.org/drawingml/2006/main">
            <a:r>
              <a:t>Say explicitly that the deck is source-grounded where possible, but hardware status comes from the presenter's current report.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README.md:3-8 identifies the C++ quadruped control programs and Raspberry Pi/Linux SocketCAN boundary.</a:t>
            </a:r>
          </a:p>
          <a:p xmlns:a="http://schemas.openxmlformats.org/drawingml/2006/main">
            <a:r>
              <a:t>- Simulation/mujoco/README.md:3-23 describes preparing a SolidWorks URDF as a MuJoCo-ready model.</a:t>
            </a:r>
          </a:p>
          <a:p xmlns:a="http://schemas.openxmlformats.org/drawingml/2006/main">
            <a:r>
              <a:t>- robot_hardware_config.h:15-24 lists four legs, four CAN channels, twelve motors, and 25:1 gear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dual objective: make the robot walk better and make the project a place where teammates gain real skill.</a:t>
            </a:r>
          </a:p>
          <a:p xmlns:a="http://schemas.openxmlformats.org/drawingml/2006/main">
            <a:r>
              <a:t>Use the four objective lanes to invite teammates into a concrete sub-system.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CMakeLists.txt:25-33,58-80,132-173 show the source split across low-level actuator, robot model, leg controllers, Xbox input, IMU reader, and the active executable.</a:t>
            </a:r>
          </a:p>
          <a:p xmlns:a="http://schemas.openxmlformats.org/drawingml/2006/main">
            <a:r>
              <a:t>- Simulation/mujoco/README.md:41-51 says simulation samples the current C++ trajectory/gait/FK/IK sources and drives all 12 joints in MuJoCo.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status claim: Stage 1 reverse walking, not lateral/yawing yet, comes from the user's request in this session, not from a repo test log.</a:t>
            </a:r>
          </a:p>
          <a:p xmlns:a="http://schemas.openxmlformats.org/drawingml/2006/main">
            <a:r>
              <a:t>Important phrasing: the code has lateral and yaw paths, but that is not the same as hardware-verified lateral/yaw locomotion.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status in Aug 28, 2026 request: Stage 1 reverse walking; not lateral or yawing; Stage 2 aims at dynamic and reliable locomotion.</a:t>
            </a:r>
          </a:p>
          <a:p xmlns:a="http://schemas.openxmlformats.org/drawingml/2006/main">
            <a:r>
              <a:t>- xbox_controller.h:41-46 and xbox_controller.cpp:254-267 show forward, lateral, yaw, vertical step input fields and the Right Bumper enable gate.</a:t>
            </a:r>
          </a:p>
          <a:p xmlns:a="http://schemas.openxmlformats.org/drawingml/2006/main">
            <a:r>
              <a:t>- robotGaitControl.cpp:253-349 and quadruped_trajectory.h:7-10 show profile selection for forward/cycloidal, lateral, yaw, and vertical step modes.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mechanical accuracy matters: model-based control is only as useful as the mass, inertia, actuator, and contact assumptions.</a:t>
            </a:r>
          </a:p>
          <a:p xmlns:a="http://schemas.openxmlformats.org/drawingml/2006/main">
            <a:r>
              <a:t>The dynamics equation is a Stage 2 control-model target, not evidence that the current C++ loop solves full-body dynamics.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robot_hardware_config.h:15-24 gives four leg configs, twelve device IDs, four CAN channels, and 25:1 reductions.</a:t>
            </a:r>
          </a:p>
          <a:p xmlns:a="http://schemas.openxmlformats.org/drawingml/2006/main">
            <a:r>
              <a:t>- Simulation/mujoco/README.md:3-23 describes preparing the SolidWorks URDF as a MuJoCo-ready visual copy.</a:t>
            </a:r>
          </a:p>
          <a:p xmlns:a="http://schemas.openxmlformats.org/drawingml/2006/main">
            <a:r>
              <a:t>- Simulation/mujoco/README.md:146-163 describes COM markers, 11.84 kg model mass, 25:1 reduction, idealized joint-side gains, and provisional collision/friction/servo assumptions.</a:t>
            </a:r>
          </a:p>
          <a:p xmlns:a="http://schemas.openxmlformats.org/drawingml/2006/main">
            <a:r>
              <a:t>- Simulation/mujoco/README.md:165-192 says cycloidal actuator visuals do not change mass, COM, inertia, collision, or RL dynamics and physics-ready geometry must be added separately.</a:t>
            </a:r>
          </a:p>
          <a:p xmlns:a="http://schemas.openxmlformats.org/drawingml/2006/main">
            <a:r>
              <a:t>- Memory-derived older CAD report note: 17.18 kg and assembly-level mass/COM override concerns may be stale and should be rechecked before presenting as current CAD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through this in one clear path: input command, gait state, foot trajectory, robot/leg/joint command generation, motor PDO command, SocketCAN, drivers.</a:t>
            </a:r>
          </a:p>
          <a:p xmlns:a="http://schemas.openxmlformats.org/drawingml/2006/main">
            <a:r>
              <a:t>Do not imply closed-loop balance or contact detection here. The feedback path is on the safety slide.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quadruped_robot_locomotion_v3.cpp:30-36 creates RobotGaitControl, Robot, RobotShutdownGuard, and XboxController('/dev/input/js0').</a:t>
            </a:r>
          </a:p>
          <a:p xmlns:a="http://schemas.openxmlformats.org/drawingml/2006/main">
            <a:r>
              <a:t>- quadruped_robot_locomotion_v3.cpp:243-244 reads xbox::readInputCommand(controller).</a:t>
            </a:r>
          </a:p>
          <a:p xmlns:a="http://schemas.openxmlformats.org/drawingml/2006/main">
            <a:r>
              <a:t>- quadruped_robot_locomotion_v3.cpp:278-316 updates walking/landing and calls Robot::CalculateAllTrajectoryCommand().</a:t>
            </a:r>
          </a:p>
          <a:p xmlns:a="http://schemas.openxmlformats.org/drawingml/2006/main">
            <a:r>
              <a:t>- quadruped_robot_locomotion_v3.cpp:336-345 commands all legs by PDO and prints telemetry.</a:t>
            </a:r>
          </a:p>
          <a:p xmlns:a="http://schemas.openxmlformats.org/drawingml/2006/main">
            <a:r>
              <a:t>- joint.cpp:507-515 writes position and velocity by PDO2; can_bus_manager.cpp:53-85 routes received frames to MotorController::handleFrame.</a:t>
            </a:r>
          </a:p>
          <a:p xmlns:a="http://schemas.openxmlformats.org/drawingml/2006/main">
            <a:r>
              <a:t>- socketcan.cpp:70-88 opens PF_CAN/CAN_RAW; socketcan.cpp:112-122 and 165-187 write/read CAN frames.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add-on schematic relationship the user asked for earlier, now as a slide.</a:t>
            </a:r>
          </a:p>
          <a:p xmlns:a="http://schemas.openxmlformats.org/drawingml/2006/main">
            <a:r>
              <a:t>Key explanation: Robot contains Leg values directly. Leg contains one bus and three Joint values. Joint owns its MotorController and keeps a reference to the Leg's bus.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robot.h:199-204 and robot.cpp:9-23 show Robot's hardware_config_ and four owned Leg members returned by getLegs().</a:t>
            </a:r>
          </a:p>
          <a:p xmlns:a="http://schemas.openxmlformats.org/drawingml/2006/main">
            <a:r>
              <a:t>- leg.h:191-196 shows each Leg contains LegHardwareConfig, CanBusManager bus, Joint hip, Joint thigh, and Joint shank.</a:t>
            </a:r>
          </a:p>
          <a:p xmlns:a="http://schemas.openxmlformats.org/drawingml/2006/main">
            <a:r>
              <a:t>- joint.h:196-197 shows Joint stores CanBusManager&amp; bus and MotorController motor; joint.cpp:37-45 constructs motor(&amp;bus, device_id).</a:t>
            </a:r>
          </a:p>
          <a:p xmlns:a="http://schemas.openxmlformats.org/drawingml/2006/main">
            <a:r>
              <a:t>- can_bus_manager.h:41-47 and can_bus_manager.cpp:14-37,53-85 show motor registration and receiveLoop frame dispatch.</a:t>
            </a:r>
          </a:p>
          <a:p xmlns:a="http://schemas.openxmlformats.org/drawingml/2006/main">
            <a:r>
              <a:t>- robot_hardware_config.h:15-24 maps each leg to can1-can4, motor device IDs 1-12, 25:1 gear ratio, and direction signs.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explaining the live walking code at a systems level.</a:t>
            </a:r>
          </a:p>
          <a:p xmlns:a="http://schemas.openxmlformats.org/drawingml/2006/main">
            <a:r>
              <a:t>Say that forward/lateral/yaw/vertical profiles exist in code, but current hardware demonstration status is narrower.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xbox_controller.h:41-46 and xbox_controller.cpp:254-267 define InputCommand fields and the Right Bumper enable gate.</a:t>
            </a:r>
          </a:p>
          <a:p xmlns:a="http://schemas.openxmlformats.org/drawingml/2006/main">
            <a:r>
              <a:t>- robotGaitControl.h:65-70 defines Standing, Walking, and Landing; robotGaitControl.cpp:364-447 performs walking/landing state updates.</a:t>
            </a:r>
          </a:p>
          <a:p xmlns:a="http://schemas.openxmlformats.org/drawingml/2006/main">
            <a:r>
              <a:t>- robotGaitControl.cpp:253-349 selects forward, lateral, turning, and vertical stepping profiles.</a:t>
            </a:r>
          </a:p>
          <a:p xmlns:a="http://schemas.openxmlformats.org/drawingml/2006/main">
            <a:r>
              <a:t>- quadruped_trajectory.cpp:181-190 dispatches CycloidalTrot, VerticalStep, LeftToRight, and CircularYaw foot trajectories.</a:t>
            </a:r>
          </a:p>
          <a:p xmlns:a="http://schemas.openxmlformats.org/drawingml/2006/main">
            <a:r>
              <a:t>- leg.cpp:462-519 uses analytical IK, the forward Jacobian, damped inverse Jacobian, velocity command limiting, and integrated next joint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concise: FK tells where the foot is, IK tells what joint angles reach a desired foot point, Jacobian maps velocity, and J^T maps force to torque.</a:t>
            </a:r>
          </a:p>
          <a:p xmlns:a="http://schemas.openxmlformats.org/drawingml/2006/main">
            <a:r>
              <a:t>The torque map belongs to future force/MIT-style control discussions; the active C++ command path sends position/velocity targets.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leg.cpp:601-747 contains the FK, analytical IK, forward Jacobian, and damped inverse Jacobian implementations.</a:t>
            </a:r>
          </a:p>
          <a:p xmlns:a="http://schemas.openxmlformats.org/drawingml/2006/main">
            <a:r>
              <a:t>- leg.cpp:462-519 shows the current trajectory command uses IK and damped Jacobian-based velocity before command limiting.</a:t>
            </a:r>
          </a:p>
          <a:p xmlns:a="http://schemas.openxmlformats.org/drawingml/2006/main">
            <a:r>
              <a:t>- Simulation/mujoco/README.md:69-96 documents a torque-only Cartesian-force experiment using tau_joint = J.T @ foot_force and tau_motor = tau_joint / gear_ratio, and warns it is not a stable hardware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a clear distinction: PID/LQR/MPC/MIT formulas are teaching and roadmap material. The current C++ path is kinematic target generation plus PDO2 position/velocity commands.</a:t>
            </a:r>
          </a:p>
          <a:p xmlns:a="http://schemas.openxmlformats.org/drawingml/2006/main">
            <a:r>
              <a:t>For Stage 2, MIT mode and MPC are reasonable goals only after actuator behavior, model parameters, feedback timing, and safety boundaries are validated.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joint.cpp:507-515 writes position/velocity target PDO2 frames.</a:t>
            </a:r>
          </a:p>
          <a:p xmlns:a="http://schemas.openxmlformats.org/drawingml/2006/main">
            <a:r>
              <a:t>- robot_safety.h:32-45 and robot_safety.cpp:8-88 define checks for control dt, feedback age, tracking, measured velocity, and homing motion.</a:t>
            </a:r>
          </a:p>
          <a:p xmlns:a="http://schemas.openxmlformats.org/drawingml/2006/main">
            <a:r>
              <a:t>- leg.cpp:462-519 shows the current kinematic command method.</a:t>
            </a:r>
          </a:p>
          <a:p xmlns:a="http://schemas.openxmlformats.org/drawingml/2006/main">
            <a:r>
              <a:t>- Memory-derived Recoil review note: PDO3 target plus feedforward torque resembled fixed-gain position impedance, not complete validated MIT control; recheck firmware before assigning Stage 2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how the robot avoids blind command streaming: timing, feedback, tracking, velocity, and homing checks are explicit.</a:t>
            </a:r>
          </a:p>
          <a:p xmlns:a="http://schemas.openxmlformats.org/drawingml/2006/main">
            <a:r>
              <a:t>IMU phrasing must be careful: reader library is linked, but not active in the main locomotion loop. The ESP32 source currently shows BNO055 and USB Serial, not a confirmed hardware-stabilizing UART link.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motor_controller.cpp:490-543 stores PDO2 position/velocity feedback and exposes latest measurements.</a:t>
            </a:r>
          </a:p>
          <a:p xmlns:a="http://schemas.openxmlformats.org/drawingml/2006/main">
            <a:r>
              <a:t>- joint.cpp:505-642 reads fresh feedback and waits for fresh feedback.</a:t>
            </a:r>
          </a:p>
          <a:p xmlns:a="http://schemas.openxmlformats.org/drawingml/2006/main">
            <a:r>
              <a:t>- quadruped_robot_locomotion_v3.cpp:138-217 validates control dt and robot feedback before command generation.</a:t>
            </a:r>
          </a:p>
          <a:p xmlns:a="http://schemas.openxmlformats.org/drawingml/2006/main">
            <a:r>
              <a:t>- robot_safety.h:32-45 and robot_safety.cpp:8-88 define timing, feedback, tracking, velocity, and homing checks.</a:t>
            </a:r>
          </a:p>
          <a:p xmlns:a="http://schemas.openxmlformats.org/drawingml/2006/main">
            <a:r>
              <a:t>- robot.cpp:460-475 implements RobotShutdownGuard, whose destructor calls safeStopRobot unless dismissed.</a:t>
            </a:r>
          </a:p>
          <a:p xmlns:a="http://schemas.openxmlformats.org/drawingml/2006/main">
            <a:r>
              <a:t>- robot_telemetry.cpp:79-139 prints gait state, master phase, feedback, target position/velocity, timing, and speed scale.</a:t>
            </a:r>
          </a:p>
          <a:p xmlns:a="http://schemas.openxmlformats.org/drawingml/2006/main">
            <a:r>
              <a:t>- CMakeLists.txt:119-126 and 168-172 link imu_uart_reader; imu.h:29-37 describes the Pi UART reader and default /dev/ttyAMA2; quadruped_robot_locomotion_v3.cpp has no Imu instantiation.</a:t>
            </a:r>
          </a:p>
          <a:p xmlns:a="http://schemas.openxmlformats.org/drawingml/2006/main">
            <a:r>
              <a:t>- QUADRUPED-ESP32-IMU/src/main.cpp:10,174-183,239-263 show BNO055 setup and USB Serial output path; no Serial2/HardwareSerial packet sender was found in the inspected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open-ended. It helps teammates tell you whether they want controls, mechanical design, firmware, simulation, safety, or documentation experience.</a:t>
            </a:r>
          </a:p>
          <a:p xmlns:a="http://schemas.openxmlformats.org/drawingml/2006/main">
            <a:r>
              <a:t>Suggested leader language: I want each person to own a small subsystem with a testable deliverable, so you can point to something real by the end of the stage.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explicitly requested an open-ended question so teammate tasks can be designed around ownership and experience.</a:t>
            </a:r>
          </a:p>
          <a:p xmlns:a="http://schemas.openxmlformats.org/drawingml/2006/main">
            <a:r>
              <a:t>- The ownership tracks come from the inspected code and repo structure: Control_Code/Locomotion, Xbox_Input, lowlevel_actuator, Simulation/mujoco, QUADRUPED-ESP32-IMU, and docs/archify.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assigning next steps around evidence. The roadmap is ambitious, but it should not skip validation.</a:t>
            </a:r>
          </a:p>
          <a:p xmlns:a="http://schemas.openxmlformats.org/drawingml/2006/main">
            <a:r>
              <a:t>If teammates ask why MPC cannot be first: it depends on model quality, actuator trust, contact assumptions, and state estimation.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robot_safety.h:32-45 and robot_safety.cpp:8-88 show existing safety checks that Stage 2 should preserve and extend.</a:t>
            </a:r>
          </a:p>
          <a:p xmlns:a="http://schemas.openxmlformats.org/drawingml/2006/main">
            <a:r>
              <a:t>- Simulation/mujoco/README.md:41-51 and 69-96 show current simulation paths, including a source-sampled C++ trajectory runner and a torque experiment explicitly labeled not hardware-stable.</a:t>
            </a:r>
          </a:p>
          <a:p xmlns:a="http://schemas.openxmlformats.org/drawingml/2006/main">
            <a:r>
              <a:t>- Simulation/mujoco/README.md:146-163 and 189-192 describe provisional mass, COM, inertia, collision, and actuator modeling caveats.</a:t>
            </a:r>
          </a:p>
          <a:p xmlns:a="http://schemas.openxmlformats.org/drawingml/2006/main">
            <a:r>
              <a:t>- Memory-derived Recoil review note says MIT/PDO3-related firmware conclusions are unvalidated until source, build, flash, and hardware validation are repeated.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9eadef74a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82a034f8474cf5" /><Relationship Type="http://schemas.openxmlformats.org/officeDocument/2006/relationships/slideLayout" Target="/ppt/slideLayouts/slideLayout1.xml" Id="Rd1eb5c0d750047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eb5c0d7500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5574364dc41f2" /><Relationship Type="http://schemas.openxmlformats.org/officeDocument/2006/relationships/notesSlide" Target="/ppt/notesSlides/notesSlide1.xml" Id="R17fa07526fd345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5674447164fb5" /><Relationship Type="http://schemas.openxmlformats.org/officeDocument/2006/relationships/notesSlide" Target="/ppt/notesSlides/notesSlide2.xml" Id="Rd62b61c3846f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6b4234d64107" /><Relationship Type="http://schemas.openxmlformats.org/officeDocument/2006/relationships/notesSlide" Target="/ppt/notesSlides/notesSlide3.xml" Id="R013e3c2af943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5a104cac84b78" /><Relationship Type="http://schemas.openxmlformats.org/officeDocument/2006/relationships/notesSlide" Target="/ppt/notesSlides/notesSlide4.xml" Id="R7958bfac28d847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19d18296a4879" /><Relationship Type="http://schemas.openxmlformats.org/officeDocument/2006/relationships/notesSlide" Target="/ppt/notesSlides/notesSlide5.xml" Id="R3d92ab2592b449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9b890f93b40bc" /><Relationship Type="http://schemas.openxmlformats.org/officeDocument/2006/relationships/notesSlide" Target="/ppt/notesSlides/notesSlide6.xml" Id="R6d7656665004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e907841494a9e" /><Relationship Type="http://schemas.openxmlformats.org/officeDocument/2006/relationships/notesSlide" Target="/ppt/notesSlides/notesSlide7.xml" Id="R6d2def98f28b4b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d5e4651a54a13" /><Relationship Type="http://schemas.openxmlformats.org/officeDocument/2006/relationships/notesSlide" Target="/ppt/notesSlides/notesSlide8.xml" Id="R161efdb374e245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34ce705ca4a25" /><Relationship Type="http://schemas.openxmlformats.org/officeDocument/2006/relationships/notesSlide" Target="/ppt/notesSlides/notesSlide9.xml" Id="R98f0b20ad97e40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afb48374474b" /><Relationship Type="http://schemas.openxmlformats.org/officeDocument/2006/relationships/notesSlide" Target="/ppt/notesSlides/notesSlide10.xml" Id="R022bc47b871f43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15caebcf9493f" /><Relationship Type="http://schemas.openxmlformats.org/officeDocument/2006/relationships/notesSlide" Target="/ppt/notesSlides/notesSlide11.xml" Id="R1c66850931464d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9ff28d05945e6" /><Relationship Type="http://schemas.openxmlformats.org/officeDocument/2006/relationships/notesSlide" Target="/ppt/notesSlides/notesSlide12.xml" Id="R0246e6fc675c4e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df6c5e5b649ea" /><Relationship Type="http://schemas.openxmlformats.org/officeDocument/2006/relationships/notesSlide" Target="/ppt/notesSlides/notesSlide13.xml" Id="R610ca44dd4b4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9CBFE-341F-49E8-A255-2B942E3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28622-69B2-4DD8-8FDD-5E53BFC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B0CED-22EC-4377-B519-9624E170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A815E-76AF-4A39-A0F6-EF714CE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62D3F-2278-45A5-A399-CF5A8ABA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2546A-9F30-4F1E-84EF-BD6FA6B1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46702-AE69-4754-9BA4-60126E27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52C8C-7351-4C54-A407-6B9646F1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237C5-FEB4-4C4D-9FDD-6E9614BF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F198E-7CA7-4A96-BE93-EF6F336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68CE2-6ED1-46E4-9A9F-9A6285D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55876-44E2-4DC5-8D24-B665CD0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BAC87-2501-4D32-8560-9E3DB902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C9331-03B5-4564-9BC7-EF797C22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4DBFA-31D9-4736-AE3F-0BF000D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E098D-8D62-4DCD-9AA2-8EEF21FE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92AFF-3852-43C4-AD06-54855AF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3048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E64"/>
          </a:solidFill>
          <a:ln xmlns:a="http://schemas.openxmlformats.org/drawingml/2006/main" w="11430">
            <a:solidFill>
              <a:srgbClr val="104E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EFAFE"/>
                </a:solidFill>
              </a:defRPr>
            </a:pPr>
            <a:r>
              <a:rPr sz="1200" b="1">
                <a:solidFill>
                  <a:srgbClr val="CEFAFE"/>
                </a:solidFill>
              </a:rPr>
              <a:t>NEW TEAMMATE PROJECT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6F159-2711-4F13-8401-57D2EDC4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Quadruped Robot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Project Onboarding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9979D-C48A-4558-9D14-C246071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AD5E2"/>
                </a:solidFill>
              </a:defRPr>
            </a:pPr>
            <a:r>
              <a:rPr sz="1800" b="0">
                <a:solidFill>
                  <a:srgbClr val="CAD5E2"/>
                </a:solidFill>
              </a:rPr>
              <a:t>C++ whole-robot control, mechanical-dynamical architecture, and Stage 2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F1F8A-AEAF-431B-8F81-50A1789D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0A1B9"/>
                </a:solidFill>
              </a:defRPr>
            </a:pPr>
            <a:r>
              <a:rPr sz="1350" b="0">
                <a:solidFill>
                  <a:srgbClr val="90A1B9"/>
                </a:solidFill>
              </a:rPr>
              <a:t>Presentation date: Aug 29, 2026</a:t>
            </a:r>
          </a:p>
          <a:p xmlns:a="http://schemas.openxmlformats.org/drawingml/2006/main">
            <a:pPr algn="l">
              <a:defRPr sz="1350" b="0">
                <a:solidFill>
                  <a:srgbClr val="90A1B9"/>
                </a:solidFill>
              </a:defRPr>
            </a:pPr>
            <a:r>
              <a:rPr sz="1350" b="0">
                <a:solidFill>
                  <a:srgbClr val="90A1B9"/>
                </a:solidFill>
              </a:rPr>
              <a:t>Source snapshot: f3c5199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C2BE4-75FC-4128-AF11-8AF43FC9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2823210"/>
            <a:ext cx="3590925" cy="994410"/>
          </a:xfrm>
          <a:prstGeom xmlns:a="http://schemas.openxmlformats.org/drawingml/2006/main" prst="roundRect">
            <a:avLst>
              <a:gd name="adj" fmla="val 19157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905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4CFEC-5321-460B-9A11-3EB6CB5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35" y="3734753"/>
            <a:ext cx="0" cy="162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D616A-FA9A-458A-B6A8-DF1FE41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8" y="5364480"/>
            <a:ext cx="607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67341-6D2D-42A1-BA2F-164B125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698" y="3734753"/>
            <a:ext cx="0" cy="162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E07EB-E051-4EDD-A8BC-BBCBD2F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64480"/>
            <a:ext cx="607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558ED-CFE7-440E-9A19-B616CB8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7690" y="3734753"/>
            <a:ext cx="0" cy="162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4FE1D-5951-4E29-B2B6-F110B78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3843" y="5364480"/>
            <a:ext cx="607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C0FFC-F0C5-4179-BEFE-E52DF9B4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253" y="3734753"/>
            <a:ext cx="0" cy="162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78C5C-4072-4DF4-8C69-5A03BB21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405" y="5364480"/>
            <a:ext cx="607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EA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0B20F-EFAB-434F-8E7D-1D3D38D5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15" y="2574608"/>
            <a:ext cx="469583" cy="469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0"/>
          </a:solidFill>
          <a:ln xmlns:a="http://schemas.openxmlformats.org/drawingml/2006/main" w="9525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A30AF-98E5-4D05-A3C8-65B6F35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915" y="2574608"/>
            <a:ext cx="469583" cy="469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0"/>
          </a:solidFill>
          <a:ln xmlns:a="http://schemas.openxmlformats.org/drawingml/2006/main" w="9525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68FB76-5F11-4C68-9C62-1691A367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57875"/>
            <a:ext cx="4000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EFAFE"/>
                </a:solidFill>
              </a:defRPr>
            </a:pPr>
            <a:r>
              <a:rPr sz="1800" b="1">
                <a:solidFill>
                  <a:srgbClr val="CEFAFE"/>
                </a:solidFill>
              </a:rPr>
              <a:t>12 motors</a:t>
            </a:r>
          </a:p>
          <a:p xmlns:a="http://schemas.openxmlformats.org/drawingml/2006/main">
            <a:pPr algn="ctr">
              <a:defRPr sz="1800" b="1">
                <a:solidFill>
                  <a:srgbClr val="CEFAFE"/>
                </a:solidFill>
              </a:defRPr>
            </a:pPr>
            <a:r>
              <a:rPr sz="1800" b="1">
                <a:solidFill>
                  <a:srgbClr val="CEFAFE"/>
                </a:solidFill>
              </a:rPr>
              <a:t>4 legs x 3 joints</a:t>
            </a:r>
          </a:p>
          <a:p xmlns:a="http://schemas.openxmlformats.org/drawingml/2006/main">
            <a:pPr algn="ctr">
              <a:defRPr sz="1800" b="1">
                <a:solidFill>
                  <a:srgbClr val="CEFAFE"/>
                </a:solidFill>
              </a:defRPr>
            </a:pPr>
            <a:r>
              <a:rPr sz="1800" b="1">
                <a:solidFill>
                  <a:srgbClr val="CEFAFE"/>
                </a:solidFill>
              </a:rPr>
              <a:t>SocketCAN control</a:t>
            </a:r>
          </a:p>
        </p:txBody>
      </p:sp>
    </p:spTree>
    <p:extLst>
      <p:ext uri="{BB962C8B-B14F-4D97-AF65-F5344CB8AC3E}">
        <p14:creationId xmlns:p14="http://schemas.microsoft.com/office/powerpoint/2010/main" val="1879311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C8FEA-7651-4115-9F63-EC9DBFE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557AD-C78A-4C87-9DF5-45E022DC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16FC7-D959-4636-8460-C920710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876FD-16E0-4E30-8187-390F5BF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10078-65EA-4D74-A8AF-DCDDC867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E7FAF-5640-410B-B8AD-49F2849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AB5F1-BB13-47AB-9A9A-5F236E25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3D461-D4B6-4504-A41E-2D67637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73F90-0D00-4431-B590-5B7AA0A8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BF7C-68DC-4E7C-A0E6-1C882FC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4282B-CC19-45C1-A782-B384171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EA0D1-0030-450B-88AA-CCF1AF6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50502-0879-496D-ADF8-F0E6776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3F573-BDD9-409A-9A63-295DD86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18397-D866-414E-9073-68ACDD2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82FEF-5F1B-4CDC-BEE3-5F0F571F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C985A-E142-44D7-8B28-D6A2EFC7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INTRODUCTION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0C018-7AA2-4EFD-944B-4DA77C33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What we are building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2DF8C-A327-4817-856B-E895C10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A physical quadruped platform where mechanical design, embedded sensing, CAN control, and locomotion software meet.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F088A-D7FF-44D6-87F4-3DDA19F6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810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77935-146B-4F33-AC11-3F5C3F2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Mechanical body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37361-7938-41E1-9960-63CCBD0D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CAD / URDF / MuJoCo model, four legs, custom actuator assemblies.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DA354-F265-4C6D-AFA2-6DEE82C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5810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5DE64-1CAB-4CBF-868F-C75DF32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Whole-robot C++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8CEAA-C349-4676-A8B1-26B0199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Linux process centered on quadruped_robot_locomotion_v3.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46B54-15B8-4119-9969-D607A1C9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5810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A02F2-9B7A-4018-85CE-A1F7F32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Motor network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53C9F-BD1B-47BE-96EB-172C2D4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SocketCAN routes commands and feedback for twelve motor drivers.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78FBB-2C29-4B0F-A2C4-6398515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58102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C5599-E210-4E83-A373-6CE5E70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95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Learning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D3A9E-80FC-42EA-A435-4895159D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14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Each teammate can own a sub-system and produce measurable evidence.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B5960-7272-4F6B-9872-2ED439C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439277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78C6E-71F2-416C-A81D-62FDF42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D4E38-DCA8-4BA6-869C-5DD4F3D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1A4B0-5C19-4987-A13A-ECAB8A81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4202F-923F-4C16-B5A6-8BC1263E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4C4B5-004C-4D17-B000-29AEA11A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75F2B-D98A-4D4E-B577-97366DC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E49D5-1136-487E-8F76-5FD34DC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893A1-1234-4DDE-A922-2924E419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9ED8-1BB9-45E3-9B54-80B78EC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FF953-4373-48E6-9410-594E572E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A290D-3CE0-45B4-9C8B-B07CBB1B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86AE9-243E-4168-AA07-5D508FA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7B0EF-A750-4089-B73D-AE20621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FEE5B-AD69-49B5-940B-DE4FB2F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01DAB-0BD0-4710-8F62-84B6805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4C1A0-D43E-427E-90E1-C7AC9EBE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843A5-C816-4520-B972-D79AB1D3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06285-300F-4D87-97A2-16A34B6B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Build a reliable quadruped learning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D6954-13E8-4BA9-BD20-8E15A4D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 engineering goal is controlled locomotion; the team goal is ownership, evidence, and practical robotics experience.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43618-0443-4E7A-8F90-87EDA51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58102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11430">
            <a:solidFill>
              <a:srgbClr val="0F17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Project objective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Progress from deliberate walking to reliable dynamic locomotion while making every subsystem inspectable, testable, and teachable.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7D2BF-0819-43FA-AB29-ED99891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609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EE6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6B96C-A9A5-445B-8FCB-E6657F0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Locomotion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730FB-3476-4DD4-9B97-6FD1B495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431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Stable gait states, foot targets, IK/FK, and validated hardware trials.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68D39-990C-4167-B4EA-D5AAC91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0425"/>
            <a:ext cx="609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A2F4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A33C0-F14E-4223-8371-AD025DD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Hardware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955C9-2C9C-4BE5-A53C-86420A8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43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Lower mass, better actuator behavior, cleaner wiring, and repeatable calibration.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E31FE-FD7B-4EC9-A88E-9695743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609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EE6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234D1-D961-4ACC-AE65-EC437F24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Safety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B0557-BBFE-4363-9DEC-359277E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434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Fresh feedback, loop timing checks, safe stop, and telemetry during every run.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06106-67F8-41CB-81FE-9DF1FB2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00675"/>
            <a:ext cx="609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A2F4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A2618-37AE-497D-89F4-DE9FF15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72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Simulation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3A6DF-7276-410E-B66B-099DE6C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Use MuJoCo to de-risk gait changes before hardware testing.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49873-FB29-4836-BDD1-632E750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403655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BF6C6-6DFC-43AA-B6B8-4FA2813E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2B6BF-668E-46F9-8562-26A47325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E1DD-2314-4798-81A4-037F46D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8ED1-8AE4-465E-97B8-9DD22D2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260D2-438D-4528-AD14-044E91C3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3CF97-290E-44F4-B0F4-4851D210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84A40-BC7B-4500-BA86-F53E8B31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D1AB1-E2F5-4A2B-B030-308759CF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1CFDA-0101-4765-8129-E323CD5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3CCD6-0A0C-4318-A062-151DF15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E837F-B752-4BC4-ABA8-8989F622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F63AC-0F93-4510-957D-F982B53F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011A3-0D97-412C-9AE2-486F7082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A7C95-75A6-4E97-B32E-E821D631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BEC30-16E4-4E4C-A154-B1266FE2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2CC05-2EB1-4592-BE98-D9ACC29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9647-14C6-4B93-ACE9-2D691261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CURRENT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BA21D-33D1-4C96-BA25-FD16C5F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Stage 1 proved movement; Stage 2 is reliability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115B0-88C8-45E9-89ED-CDD87C7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Keep the source capabilities and hardware-verified behavior separate.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92F7B-E07F-4A65-8703-764AFEBB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619125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EE9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56B22-B19C-438D-B5DE-3BD039C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619125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3C475-7033-427D-8820-FD2F027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A55"/>
                </a:solidFill>
              </a:defRPr>
            </a:pPr>
            <a:r>
              <a:rPr sz="2100" b="1">
                <a:solidFill>
                  <a:srgbClr val="007A55"/>
                </a:solidFill>
              </a:rPr>
              <a:t>Stage 1: current demo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9072D-2169-4A6D-A10F-0370CCD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99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Hardware report: able to walk reversely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Not yet reliable for lateral walking or yawing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Source already contains lateral/yaw profile logic, so code capability is ahead of demonstrated behavior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Baseline still needs repeatability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0A1F3-CEDA-4DDF-AA36-BB80551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F78"/>
                </a:solidFill>
              </a:defRPr>
            </a:pPr>
            <a:r>
              <a:rPr sz="2100" b="1">
                <a:solidFill>
                  <a:srgbClr val="005F78"/>
                </a:solidFill>
              </a:rPr>
              <a:t>Stage 2: next engineering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AEDE1-B40B-4077-9E43-01D9FB0C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More dynamic walking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More reliable locomotion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Better actuators and a lighter robot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Advance toward MIT mode and MPC after feedback and model quality improve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3A52B-78F3-45BC-A6C5-CD7E1FD3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0A1B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1F9F6-CEAA-4202-B48F-CA4EFDC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1571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11430">
            <a:solidFill>
              <a:srgbClr val="FFB9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3306"/>
                </a:solidFill>
              </a:defRPr>
            </a:pPr>
            <a:r>
              <a:rPr sz="1500" b="1">
                <a:solidFill>
                  <a:srgbClr val="7B3306"/>
                </a:solidFill>
              </a:rPr>
              <a:t>evidence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F025F-4F58-4F30-998F-4A1AFC17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39652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2B32BD-4AD0-42D8-8E69-FB5D095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CAB2-656C-44F0-B8B4-233ED8B4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D5E4-B1C2-4FD6-88A8-A287D82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B7D72-FE78-43D1-9BEA-EC783D9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1761E-D6FC-43B9-9DAC-ED13BF7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47EAC-B148-4431-9E4B-8B635F60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D591B-F726-499D-9E0A-458EFFC2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7BDB1-73F5-4538-B1DC-37E2C48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9A7E9-00A1-4A5D-8DB9-B08C491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D13FB-46B5-4789-B270-B51713BE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C8D44-9626-4CAD-A6F3-92ADEB2B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D4EB2-DBE8-4579-BBE7-FBB51DB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526A3-6E91-4231-9C81-068B2ED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59823-8987-4042-8D43-A0E0A21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E5504-36FD-437F-B7E2-06519859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71B75-9240-4203-9DEC-FCBF5FC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93A17-8572-43ED-8E94-607798C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MECHANICAL DYNAMICS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5F362-00E8-4D9B-98CE-BFC00E7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CAD model and physical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4731B-BA17-4F17-9F35-AC0BAB0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Stage 2 needs a model that matches the real robot closely enough for control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97F98-8188-410A-8F71-368079C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46" y="3217926"/>
            <a:ext cx="2773680" cy="768096"/>
          </a:xfrm>
          <a:prstGeom xmlns:a="http://schemas.openxmlformats.org/drawingml/2006/main" prst="roundRect">
            <a:avLst>
              <a:gd name="adj" fmla="val 24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90101-7BBC-49F1-BF02-482ECFCD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206" y="3922014"/>
            <a:ext cx="0" cy="125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8CDE6-4B5C-4DCF-B69F-7DCD978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" y="5180838"/>
            <a:ext cx="469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7E17F-FBED-4AA0-A9BB-7E7C96C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922014"/>
            <a:ext cx="0" cy="125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169A9-C573-4BAE-BC77-92DADABD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" y="5180838"/>
            <a:ext cx="469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1097F-274D-4FAB-BE5F-9B8487C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414" y="3922014"/>
            <a:ext cx="0" cy="125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5157A-E853-45A5-9470-1314117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18" y="5180838"/>
            <a:ext cx="469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F151F-335E-4719-A0B6-B0E56CB2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814" y="3922014"/>
            <a:ext cx="0" cy="125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C37E0-2A7E-4B58-B27D-3F0ADC8A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118" y="5180838"/>
            <a:ext cx="469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59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EB814F-C769-40AC-B23C-6180CC01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894" y="3025902"/>
            <a:ext cx="362712" cy="362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0"/>
          </a:solidFill>
          <a:ln xmlns:a="http://schemas.openxmlformats.org/drawingml/2006/main" w="9525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91B3D-8E74-431E-B522-5B4F6E69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774" y="3025902"/>
            <a:ext cx="362712" cy="362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0"/>
          </a:solidFill>
          <a:ln xmlns:a="http://schemas.openxmlformats.org/drawingml/2006/main" w="9525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04A7EE-7176-4C8B-9442-B6F6BA0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38A33-5C90-4339-8BD1-2D4F636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Body + four legs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808DB-3855-4F39-9A91-50859BA1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Each leg has hip, thigh, and shank joints, for 12 commanded joints total.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0092E-76F4-4961-A980-FDE0E49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73B7A-F11B-476E-9432-3CF0E57A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86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Actuator assemblies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68EEA-C174-4459-8CE4-0E7E583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670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Cycloidal actuator visuals exist in the MuJoCo prep path; real torque linkage modeling remains a caveat.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05456A-3762-4341-BA3F-9A126A6E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FFA1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4C2628-6CBF-4598-BD57-51586FED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48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Mass properties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7C2F9-22CC-41EE-98FB-91BCF81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29175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CAD/URDF/MJCF mass, COM, inertia, and collision geometry need numerical validation before model-based control.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9DADB2-E411-4A4B-940C-7BA4014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B2C317-F94F-4568-AE27-0CBCE9B5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48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Contact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8390C4-FC5A-439D-B167-718EAC5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29175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Ground contact and friction exist in simulation; hardware contact detection is not proved by this C++ source.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2F59C-8723-461E-9B8A-2A1B7F55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0"/>
            <a:ext cx="12001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285E2-5B49-4854-89F6-DDD5772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67450"/>
            <a:ext cx="1158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4D00"/>
                </a:solidFill>
              </a:defRPr>
            </a:pPr>
            <a:r>
              <a:rPr sz="1200" b="1">
                <a:solidFill>
                  <a:srgbClr val="BB4D00"/>
                </a:solidFill>
              </a:rPr>
              <a:t>Stage 2 dynamics model target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8FD2DD-584D-4381-9FA7-F6F4604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610350"/>
            <a:ext cx="1158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M(q) qddot + C(q,qdot) qdot + g(q) = S^T tau + J_c(q)^T lambda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2D0236-E9C2-49F0-A6FF-B476341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728410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24BBA5-E0AC-44C4-93DC-738E8B0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4401A-2B7A-41D9-85AA-5E5667C6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E465F-FDF6-4F2C-93B3-BD764F0A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4992B-411F-431B-BBBE-010AB7A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DD2E-6C7A-4362-B0AE-1B995769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A40A0-1177-4BBC-BFA8-E1EACFB3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4748D-E5E8-474C-A062-D8C40F12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22884-EBDE-43E4-8409-8D012DC9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9D67-6FAA-43BF-982C-96481B9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6F6EF-5CC2-40E1-A277-BC784997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0FD42-2724-4A0E-9D96-9A1569A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76F4D-C9E1-48D5-AE12-E031408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49F9C-E9C7-482F-9922-19A50EE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3C16D-5E86-405B-9DBE-76F07C65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29F16-48B5-454D-B8E5-20D47FAC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BD1FA-FF65-4A85-80E8-C3D0983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C6593-FC8E-4F68-A094-873AEAB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RUNTIME COMMAND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89F26-956B-465E-99A2-693819A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From joystick intent to twelve actuators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62052-EE4C-42C3-802F-6F3C3AF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AD5E2"/>
                </a:solidFill>
              </a:defRPr>
            </a:pPr>
            <a:r>
              <a:rPr sz="1500" b="0">
                <a:solidFill>
                  <a:srgbClr val="CAD5E2"/>
                </a:solidFill>
              </a:rPr>
              <a:t>Centered on quadruped_robot_locomotion_v3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40B2E-7AF0-4C18-86A8-B5BE40E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4555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Human / operator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Xbox controller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/dev/input/js0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3E45C-EBC9-4994-A5B4-307A1FF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1937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4555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Xbox_Input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XboxController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readInputCommand()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F3C60-37FD-4781-8D3C-2ABA360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Main loop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timing + state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v3 executable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0DAE8-85A4-4642-BDCA-87CF3CD8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1937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Gait control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RobotGaitControl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profile + gait phase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A10B6-2C51-491C-87C1-4FC90AEF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61937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Trajectory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quadruped_trajectory.cpp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foot targets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48CAB-18D6-44D9-B70E-8B4942D1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Robot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all-leg trajectory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2C405-ACA5-45CF-849A-FE23D44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8162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Leg objects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leg values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IK/FK/Jacobian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B70F0-0D43-4923-AC06-5B80331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8162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Joint objects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 joint values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fresh feedback + targets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3662F-B661-4DCA-982D-39EB0AE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461901"/>
          </a:solidFill>
          <a:ln xmlns:a="http://schemas.openxmlformats.org/drawingml/2006/main" w="1143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CAN layer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MotorController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CanBusManager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4C337-7BAF-4DA9-B4C6-17B2533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22669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461901"/>
          </a:solidFill>
          <a:ln xmlns:a="http://schemas.openxmlformats.org/drawingml/2006/main" w="1143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Hardware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Linux SocketCAN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12 motor drivers</a:t>
            </a:r>
          </a:p>
        </p:txBody>
      </p: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86100" y="3228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924550" y="3228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763000" y="3228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601450" y="3228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ED0EF3-C095-4956-9D69-957A9A4E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84810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E3A8F-0BE4-4413-9756-D5DC091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2194D3-4EA0-4E40-8E58-C4D2638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3F2"/>
            </a:solidFill>
            <a:prstDash val="solid"/>
          </a:ln>
        </p:spPr>
      </p:sp>
      <p:cxnSp>
        <p:nvCxnSpPr>
          <p:cNvPr id="8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3086100" y="5991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24550" y="5991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763000" y="5991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1601450" y="5991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D3F2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BB0BFE-8C88-4B44-82B9-8EC6AE8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067550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E64"/>
          </a:solidFill>
          <a:ln xmlns:a="http://schemas.openxmlformats.org/drawingml/2006/main" w="11430">
            <a:solidFill>
              <a:srgbClr val="104E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EFAFE"/>
                </a:solidFill>
              </a:defRPr>
            </a:pPr>
            <a:r>
              <a:rPr sz="1200" b="1">
                <a:solidFill>
                  <a:srgbClr val="CEFAFE"/>
                </a:solidFill>
              </a:rPr>
              <a:t>Boundary: Linux process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B834FA-A164-4842-A1B5-9980D34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67550"/>
            <a:ext cx="3714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3306"/>
          </a:solidFill>
          <a:ln xmlns:a="http://schemas.openxmlformats.org/drawingml/2006/main" w="11430">
            <a:solidFill>
              <a:srgbClr val="7B33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EF3C6"/>
                </a:solidFill>
              </a:defRPr>
            </a:pPr>
            <a:r>
              <a:rPr sz="1200" b="1">
                <a:solidFill>
                  <a:srgbClr val="FEF3C6"/>
                </a:solidFill>
              </a:rPr>
              <a:t>Boundary: SocketCAN network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BFA755-4883-497D-B006-96923E2E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Source snapshot f3c5199</a:t>
            </a:r>
          </a:p>
        </p:txBody>
      </p:sp>
    </p:spTree>
    <p:extLst>
      <p:ext uri="{BB962C8B-B14F-4D97-AF65-F5344CB8AC3E}">
        <p14:creationId xmlns:p14="http://schemas.microsoft.com/office/powerpoint/2010/main" val="642537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FA60B8-CB4A-493E-A278-5E40BC6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508E9-146E-470B-BD6F-F374645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7BFAF-4134-4D17-9CF0-B402CA4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ECFFA-163D-4351-AD32-CBE5D99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92509-83E5-4C1E-B2CA-54A1923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3F589-B531-4C6D-81BA-5340719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38F6F-6E43-40A0-8AA6-079A31A9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63493-2860-412F-9D26-F68C5CFD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DFE7C-4B2B-468D-98A5-DD4876EF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7002-1896-4BED-8030-2C44227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4201D-89EE-4C37-9A5B-93602CC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308AE-8B67-4FC6-ABD2-6EAEFD2D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8AB6A-9E21-4234-9698-C19FBE5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652B3-C2AD-406D-AC90-5AADF902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4F25A-65C4-4589-956F-084B299C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84BAF-F68D-4977-A53D-A6DC18A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AFE8C-9781-4E19-ADC3-0D0B2F2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C++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193D3-40C4-49D5-B016-2A3EABFF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Robot owns Legs; Legs own Joints; Joints own Motors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426F0-70EC-436E-BB9A-58D4C75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This relationship is the cleanest mental model for new teammates reading the control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BDCA8-AD7E-47F1-BF28-7453F70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4286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11430">
            <a:solidFill>
              <a:srgbClr val="0F17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Robot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owns hardware_config_ and 4 Leg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5C86C-B160-4677-9697-F26A2B1A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Leg</a:t>
            </a:r>
          </a:p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front_left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0902F-8FD7-49E1-A2D1-A4A6159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Leg</a:t>
            </a:r>
          </a:p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front_right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47FC6-4D33-4D93-87EF-5C89F06A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Leg</a:t>
            </a:r>
          </a:p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rear_left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8E28A-F033-4DC8-810B-3BF79B8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000500"/>
            <a:ext cx="2381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Leg</a:t>
            </a:r>
          </a:p>
          <a:p xmlns:a="http://schemas.openxmlformats.org/drawingml/2006/main">
            <a:pPr algn="ctr">
              <a:defRPr sz="1575" b="1">
                <a:solidFill>
                  <a:srgbClr val="104E64"/>
                </a:solidFill>
              </a:defRPr>
            </a:pPr>
            <a:r>
              <a:rPr sz="1575" b="1">
                <a:solidFill>
                  <a:srgbClr val="104E64"/>
                </a:solidFill>
              </a:rPr>
              <a:t>rear_right</a:t>
            </a:r>
          </a:p>
        </p:txBody>
      </p:sp>
      <p:cxnSp>
        <p:nvCxnSpPr>
          <p:cNvPr id="6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771525" y="2695575"/>
            <a:ext cx="9220200" cy="17430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4295775" y="2695575"/>
            <a:ext cx="5695950" cy="17430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7820025" y="2695575"/>
            <a:ext cx="2171700" cy="17430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763125" y="2695575"/>
            <a:ext cx="18097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72953-4E3A-4345-AC7C-6CD6BEA0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39052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Inside each Leg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CanBusManager bus</a:t>
            </a:r>
          </a:p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Joint hip</a:t>
            </a:r>
          </a:p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Joint thigh</a:t>
            </a:r>
          </a:p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Joint shank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8B01C-0D9D-4840-82AF-626A5352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39052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61901"/>
                </a:solidFill>
              </a:defRPr>
            </a:pPr>
            <a:r>
              <a:rPr sz="1650" b="1">
                <a:solidFill>
                  <a:srgbClr val="461901"/>
                </a:solidFill>
              </a:rPr>
              <a:t>Inside each Joint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461901"/>
                </a:solidFill>
              </a:defRPr>
            </a:pPr>
            <a:r>
              <a:rPr sz="1650" b="1">
                <a:solidFill>
                  <a:srgbClr val="461901"/>
                </a:solidFill>
              </a:rPr>
              <a:t>CanBusManager &amp; bus</a:t>
            </a:r>
          </a:p>
          <a:p xmlns:a="http://schemas.openxmlformats.org/drawingml/2006/main">
            <a:pPr algn="ctr">
              <a:defRPr sz="1650" b="1">
                <a:solidFill>
                  <a:srgbClr val="461901"/>
                </a:solidFill>
              </a:defRPr>
            </a:pPr>
            <a:r>
              <a:rPr sz="1650" b="1">
                <a:solidFill>
                  <a:srgbClr val="461901"/>
                </a:solidFill>
              </a:rPr>
              <a:t>MotorController motor</a:t>
            </a:r>
          </a:p>
          <a:p xmlns:a="http://schemas.openxmlformats.org/drawingml/2006/main">
            <a:pPr algn="ctr">
              <a:defRPr sz="1650" b="1">
                <a:solidFill>
                  <a:srgbClr val="461901"/>
                </a:solidFill>
              </a:defRPr>
            </a:pPr>
            <a:r>
              <a:rPr sz="1650" b="1">
                <a:solidFill>
                  <a:srgbClr val="461901"/>
                </a:solidFill>
              </a:rPr>
              <a:t>name, gear ratio, direction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7E8BF-5CF1-498C-8A7D-51CC64F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715000"/>
            <a:ext cx="3714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FFA1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0218"/>
                </a:solidFill>
              </a:defRPr>
            </a:pPr>
            <a:r>
              <a:rPr sz="1425" b="1">
                <a:solidFill>
                  <a:srgbClr val="4D0218"/>
                </a:solidFill>
              </a:rPr>
              <a:t>CAN routing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4D0218"/>
                </a:solidFill>
              </a:defRPr>
            </a:pPr>
            <a:r>
              <a:rPr sz="1425" b="1">
                <a:solidFill>
                  <a:srgbClr val="4D0218"/>
                </a:solidFill>
              </a:rPr>
              <a:t>MotorController registers with CanBusManager;</a:t>
            </a:r>
          </a:p>
          <a:p xmlns:a="http://schemas.openxmlformats.org/drawingml/2006/main">
            <a:pPr algn="ctr">
              <a:defRPr sz="1425" b="1">
                <a:solidFill>
                  <a:srgbClr val="4D0218"/>
                </a:solidFill>
              </a:defRPr>
            </a:pPr>
            <a:r>
              <a:rPr sz="1425" b="1">
                <a:solidFill>
                  <a:srgbClr val="4D0218"/>
                </a:solidFill>
              </a:rPr>
              <a:t>receiveLoop dispatches frames by device id.</a:t>
            </a:r>
          </a:p>
        </p:txBody>
      </p:sp>
      <p:cxnSp>
        <p:nvCxnSpPr>
          <p:cNvPr id="67" name=""/>
          <p:cNvCxnSpPr>
            <a:stCxn xmlns:a="http://schemas.openxmlformats.org/drawingml/2006/main" id="21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381375" y="4438650"/>
            <a:ext cx="2524125" cy="2062163"/>
          </a:xfrm>
          <a:prstGeom xmlns:a="http://schemas.openxmlformats.org/drawingml/2006/main" prst="bentConnector5">
            <a:avLst>
              <a:gd name="adj1" fmla="val 40755"/>
              <a:gd name="adj2" fmla="val 56351"/>
              <a:gd name="adj3" fmla="val 90943"/>
            </a:avLst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65008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48E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34670-BC88-4BDA-831D-EA85937B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543800"/>
            <a:ext cx="98583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0F17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hardware config maps leg -&gt; can channel -&gt; device ids -&gt; motor signs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9589E-22ED-4EA8-9BDA-0A8BED81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556656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22732D-37D7-4FC5-99CC-1B1DEB8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6FF37-9DDC-4832-BA81-D16A37A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06BE8-875A-46E5-B568-3FEE94E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31778-98C7-4155-B93C-44D4A6D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6A12-D91A-42FB-A701-1AEE273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EE98B-89D2-48F6-96B4-1E44840D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69FD-0B4B-40CB-B3C5-2644BB15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14F92-37BE-4721-8FDF-486B75FD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E7BE1-0AA2-4857-A076-F8521033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F6F9F-252F-4F87-A641-626D626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8755-A107-479E-987C-FE361554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25675-B547-4869-A069-6625AACD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88F47-54D0-4FDA-A5DF-3D18576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92D09-F533-49B4-85C0-A401128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2F594-829E-4824-8830-E5145CBE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03A1E-4455-4C85-8286-37B907F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76507-0454-43CB-B7FA-34A70B69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CURRENT GAIT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BD973-D357-4D24-89B8-F32546A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Gait state drives foot targets, then joint targets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4C1A7-8D0C-4745-94CA-0F07E029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 current controller is kinematic trajectory tracking with safety checks, not full-body closed-loop balance.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90FE7-0709-4E48-BF05-BA9BD59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InputCommand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RB enable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E4F9C-7F6A-407F-9AC3-BFE0D6F7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Motion profile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forward / lateral / yaw / vertical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6F99F-BD40-437A-86C2-E35FD7D9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Run state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Standing / Walking / Landing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347E1-1A42-410A-B265-5F95401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Gait phase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master phase + leg offsets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98F99-D504-4D58-B7B6-F582FE0E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Foot target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p_d and v_d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128A0-B691-40E0-86EA-7FF70675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428875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Joint target</a:t>
            </a:r>
          </a:p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IK + damped Jacobian</a:t>
            </a:r>
          </a:p>
        </p:txBody>
      </p:sp>
      <p:cxnSp>
        <p:nvCxnSpPr>
          <p:cNvPr id="6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28925" y="28956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95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172075" y="28956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95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515225" y="28956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95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858375" y="28956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95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2201525" y="28956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595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36272E-644C-4B28-92A5-7263EA92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33875"/>
            <a:ext cx="5905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F9DD9-338D-4CCE-8700-807F661A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05325"/>
            <a:ext cx="548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F78"/>
                </a:solidFill>
              </a:defRPr>
            </a:pPr>
            <a:r>
              <a:rPr sz="1200" b="1">
                <a:solidFill>
                  <a:srgbClr val="005F78"/>
                </a:solidFill>
              </a:rPr>
              <a:t>Current command math in the leg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559C5-BA69-470B-8757-7DE0053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8225"/>
            <a:ext cx="5486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p_d[k] = p_0 + r_profile(phi_k)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q_ik[k] = IK(p_d[k])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v_d[k] = (p_d[k] - p_d[k-1]) / dt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qdot_cmd = sat(J_lambda^{-1} v_d + K_p(q_ik - q), qdot_max)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q_next = q + dt qdot_cmd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93EF7-3753-4060-8C92-D8E143B5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5905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FFA1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1BF563-729C-4694-AE56-78FB36F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05325"/>
            <a:ext cx="548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36"/>
                </a:solidFill>
              </a:defRPr>
            </a:pPr>
            <a:r>
              <a:rPr sz="1200" b="1">
                <a:solidFill>
                  <a:srgbClr val="C70036"/>
                </a:solidFill>
              </a:rPr>
              <a:t>What is not proved by this source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D159BE-A0D5-4C22-8DD4-FF365F03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48225"/>
            <a:ext cx="5486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No inferred joystick signs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No source-proved closed-loop balance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No source-proved contact detection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No hardware-verified lateral/yaw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D911B7-F712-4289-AA8F-79458CB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523961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AA4DB-2BA7-4ABD-A961-F77B8DC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5B028-946C-4CA7-9919-ACA0578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6A0BB-9D80-4E6B-B9C2-138DFC0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62769-6E13-4B29-AF29-856958A7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CDD00-CB17-4BC2-90EB-3CD684E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8025F-9E18-461C-85A6-6CF8449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55D1-8747-49F7-ACE6-D7CF5B34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C2897-E4B2-4D00-89E0-4974DF2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BE2B-E189-4A95-A157-263A326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D39D2-EF84-4DF6-82A2-B652FD03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2244F-B289-4676-BCF3-426E71D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83179-A74E-44A8-A079-2746B23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91E31-3070-4F2D-AB55-F252301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66A8D-0E38-46D6-BAC6-9B575FF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76582-AB65-4A0D-BCCC-4F077C8F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68073-3EBA-4385-9FE4-23F25653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2CD9D-D75D-48D5-99C4-0AE6EE36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KINEMATICS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688AC-CF0C-4F16-BC04-1CB4427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math teammates should recognize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B7B8A-53DE-4C0A-8CF9-FD2C3D5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These formulas describe how foot motion becomes joint motion in the current control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AC073-9E83-43A9-B4DB-5C13F17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619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37FDF-A98F-4175-ABED-427C4916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F78"/>
                </a:solidFill>
              </a:defRPr>
            </a:pPr>
            <a:r>
              <a:rPr sz="1200" b="1">
                <a:solidFill>
                  <a:srgbClr val="005F78"/>
                </a:solidFill>
              </a:rPr>
              <a:t>Forward kinematics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0A4AD-46B7-487E-8F04-F2ED0A8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5772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p_foot = f(q)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 = [q_hip, q_thigh, q_shank]^T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Use this to estimate measured foot position.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FD0CE-BE79-4CFD-B819-0AF16C6C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19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046D5-E3DB-4442-BC0B-9FC20F2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4D00"/>
                </a:solidFill>
              </a:defRPr>
            </a:pPr>
            <a:r>
              <a:rPr sz="1200" b="1">
                <a:solidFill>
                  <a:srgbClr val="BB4D00"/>
                </a:solidFill>
              </a:rPr>
              <a:t>Analytical inverse kinematics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45BEA-40AA-4F8E-91E4-E04FC12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5772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q_ik = IK(p_d)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cos(theta) arguments are clamped before acos()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Use this to get desired joint position.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949A5-0B01-4AD8-A60C-5B2E7C2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6191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CEBCD-C0E4-442E-84A1-10AA2F32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F78"/>
                </a:solidFill>
              </a:defRPr>
            </a:pPr>
            <a:r>
              <a:rPr sz="1200" b="1">
                <a:solidFill>
                  <a:srgbClr val="005F78"/>
                </a:solidFill>
              </a:rPr>
              <a:t>Jacobian velocity mapping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26141-36BB-4F8C-93C1-E8D0484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5772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v_foot = J(q) qdot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J_lambda^{-1} = (J^T J + lambda^2 I)^{-1} J^T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qdot_des = J_lambda^{-1} v_d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795B7-A1DC-4B6F-9398-6E6340EC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6191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FFA1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AA3DB6-7471-4DDA-8975-6BDE0131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36"/>
                </a:solidFill>
              </a:defRPr>
            </a:pPr>
            <a:r>
              <a:rPr sz="1200" b="1">
                <a:solidFill>
                  <a:srgbClr val="C70036"/>
                </a:solidFill>
              </a:rPr>
              <a:t>Force to torque map for future MIT/force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712C6C-0D98-49EE-B156-C940271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76850"/>
            <a:ext cx="5772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tau_joint = J(q)^T F_foot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tau_motor = tau_joint / gear_ratio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Simulation uses this in a torque-only experiment, not as the active hardware controller.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653752-F312-475B-AAA5-D43F9564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771704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DB57F9-0364-4AF7-9B26-C4A8506F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813C2-C6C3-469A-B12C-452CABB6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E40B1-25C3-4F59-82C0-4547D604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33571-F8EB-4F2F-A44D-99A70A2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0D142-5011-4070-A7F4-CE1D84E8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BA0FE-A932-4EE2-BB23-8E0C763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DCEF7-241C-4DAB-993B-FD74D7B2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918B2-5DF5-4486-BDEC-1AAF54D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D8F1F-2FBA-40E8-9307-3BBDA8D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C37D8-B833-44CF-B76E-3AE22452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C1854-6DC3-4F69-B23C-3CBF670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F8C02-3D86-463C-B0D1-49453B1A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F1053-5837-4E71-B8BD-DF7C2210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52068-8823-4D26-98CA-55F30055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18276-6B92-4230-ACD9-E74099D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96E94-1046-4637-9087-A6D615FD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D7482-9D42-49B5-830F-F992F31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CONTROL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4B855-5A52-4FBA-B51F-4B31C4EA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Current method, plus PID, LQR, MPC, and MIT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90664-CED6-4D5A-957E-D23B581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Use this slide to orient teammates from today's code toward Stage 2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72688-83CE-49C9-B77F-1B1D716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314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11430">
            <a:solidFill>
              <a:srgbClr val="0F17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E9C85-8425-4A59-98AC-6839519B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Current C++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30BBD-8796-4892-839A-DFFF7A4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PDO2 position + velocity target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q_next = q + dt * qdot_cmd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Safety gates timing, freshness, tracking, velocity, homing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5E229-453E-445A-8133-05DFA66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619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0DF5E-D9CF-4CD3-A7A3-1C5CD59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1FB20-F709-4CAF-B0B2-30F17D30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e = r - y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u(t)=K_p e(t)+K_i int_0^t e(tau)dtau+K_d de/dt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6B93F-AF9D-4239-A5B6-9C8B055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619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4BA4D-02E3-4C7B-8B86-A1A9C41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LQR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C6E87-11B4-489F-8666-97E7B7B0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x_{k+1}=A x_k + B u_k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u_k=-K x_k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K=(R+B^T P B)^{-1}B^T P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D5B7F-D894-4E40-A2F0-B40B347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619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A5E00-B361-41A3-88AC-C1DF915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43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MPC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E7815-E208-4AF9-8D80-55F43DF5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143625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min sum ||x_k-x_ref||_Q^2 + ||u_k||_R^2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s.t. dynamics, friction, torque, joint limits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F3E2E6-2BE6-49B0-8DC8-191CFD3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619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438B8-6C48-4914-87E0-9B592E8E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43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MIT mode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6CDF4-7570-41F7-A573-9077C9C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43625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tau = K_p(q_d-q)+K_d(qdot_d-qdot)+tau_ff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Needs validated actuator behavior and feedback freshness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741CC4-6BF1-4E65-B1A1-FE2C277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293682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2D808-A26A-4C46-9BD6-6C5E281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9EA29-DB9F-49AB-A8D6-356CE728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E41A-91D6-41F5-AE69-74C1D84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4FA9E-6376-4435-8C47-C029C478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A9A0B-115B-4C54-9F84-D20834C8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3D334-10C1-4FC7-8AB1-11CF1534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0F4A9-4F26-4B4F-BFFD-6083882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71FE9-EC5E-44BC-B12A-81999832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8C3B3-5FFD-4BFD-8813-4372899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E4B64-6E9F-431E-A1A9-2982D34A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DA684-680B-4FB6-933D-A92E89E8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628EC-B52B-4D04-8ACE-A149476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77BAF-A39C-4F3B-87FC-F6C33DB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7D67C-48E4-4A02-8037-DC08A2A2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4B033-C94F-4796-8A45-34EBD05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E1A31-0262-433D-ADAD-843D419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47501-55D5-40C9-AF30-1AB6134F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SAFETY AND SENSING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7E0A8-83D2-4A81-8559-49A00ED4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Safety, telemetry, and partial IMU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F8C96-1D1A-424E-80E4-D8848D1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This is the slide that prevents accidental overclaiming.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46D21-FF21-4E02-9009-9DEF0C85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633412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058A1-5482-48BC-BE36-9928349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5908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Joint feedback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877CA-25D9-4CE1-BE96-322EE99A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19425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Motor position/velocity PDO feedback -&gt; CanBusManager / MotorController -&gt; Joint fresh-feedback checks -&gt; Leg and Robot arrays -&gt; RobotSafety -&gt; main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51605-E60C-4941-BFA3-2E3B19F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33412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7C690-3AED-44B3-9874-F7DB27DF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Safety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258B8-C067-48FC-B30D-B799C324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19425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RobotSafety validates loop timing, feedback freshness, joint tracking, measured velocity, and homing. RobotShutdownGuard performs safe stop on exit.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5C9F5-D83F-4D0B-AFA6-4DE1C1C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633412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7FB2F-2451-4A0D-8F68-B57939E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244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Telemetry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D2C00-B01F-46C0-BF36-2CA77E89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35305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robot_telemetry.cpp receives control state, gait state, feedback, targets, timing, and speed scale. Keep it outside the command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91433C-B642-451C-B54E-6D05BF2C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14875"/>
            <a:ext cx="633412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FFA1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E3237-7A26-4965-9DF5-18875E0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244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0036"/>
                </a:solidFill>
              </a:defRPr>
            </a:pPr>
            <a:r>
              <a:rPr sz="1800" b="1">
                <a:solidFill>
                  <a:srgbClr val="A50036"/>
                </a:solidFill>
              </a:rPr>
              <a:t>IMU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71833-C06A-4770-A3EA-3B16E022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5305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CMake links imu_uart_reader and Imu defaults to /dev/ttyAMA2, but quadruped_robot_locomotion_v3.cpp does not instantiate Imu. Current ESP32 source uses BNO055 + USB Serial, so label this in progress.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7B6F6-1758-4F48-8995-1C7D84F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891760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14F0C4-CBEF-4F50-B85D-5C3B88F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A8FF8-E295-4AAE-82A9-6BE5FEB5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D5811-E403-4B93-8BDE-7DE180E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762B-2890-425B-9216-E5B52C3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B7973-8023-450F-95F3-7EAE4F61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530A3-8BAA-414B-AC2D-F863E8F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762CA-D316-4487-8A20-16B3BF5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2A9D-EF2C-40B4-BDBA-2B6C477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E4FA8-CEFE-4E03-AC35-CCEB605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462EA-57A6-49C6-9CA2-D1CD9C35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45725-A71C-4F40-AE4E-73529378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814A6-3943-446A-9F8F-6F69EA0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10729-3BBE-400B-AEF0-61B0FAC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A065A-6AEA-4D16-AB0A-7D92D4D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09178-AB23-40D0-8D1A-7E1468BC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E0577-E5C6-4A23-A13F-8AC0AEC5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29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97E6B-F9A3-4E99-81A1-F61BC9CA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TEAM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0EE4B-D8A5-4B47-A378-287396B6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162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What do you want to obtain from this project?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B109B-1EFE-47DE-88D1-5F8C572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AD5E2"/>
                </a:solidFill>
              </a:defRPr>
            </a:pPr>
            <a:r>
              <a:rPr sz="1500" b="0">
                <a:solidFill>
                  <a:srgbClr val="CAD5E2"/>
                </a:solidFill>
              </a:rPr>
              <a:t>As leader, use their answers to assign subtasks that create real ownership and visible learning.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31595-F1E6-4FEB-B69F-AC9F5AD7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28575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skill do you want to gain?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3FC52-BBD0-43FB-A6AF-E7643086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28575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Which subsystem do you want to own?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160AD-56DE-46D7-99F4-532F578B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28575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0092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deliverable would make you proud?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A367E-2FDC-4FE6-AC86-2BDC5D15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524125"/>
            <a:ext cx="28575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11430">
            <a:solidFill>
              <a:srgbClr val="FE9A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How much hardware risk do you want?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AE13E-2384-4932-91A1-6D4E34E4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Mechanical / lightweight redesign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0FBEC-402C-43FC-9118-0757F2A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33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Actuator testing and MIT-mode bring-up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C3C42-4197-47D3-BBBF-AFA0683C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CAN reliability and safety instrumentation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17999-5CC8-46C5-87E9-80FDFE5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76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Gait, IK/FK, MPC, and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C4BCE-4EAA-49F0-AC0F-629175A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MuJoCo simulation and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52DB0-AC18-4D00-8ABC-400C37EE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76875"/>
            <a:ext cx="3476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3345"/>
          </a:solidFill>
          <a:ln xmlns:a="http://schemas.openxmlformats.org/drawingml/2006/main" w="11430">
            <a:solidFill>
              <a:srgbClr val="0075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FEFF"/>
                </a:solidFill>
              </a:defRPr>
            </a:pPr>
            <a:r>
              <a:rPr sz="1425" b="1">
                <a:solidFill>
                  <a:srgbClr val="ECFEFF"/>
                </a:solidFill>
              </a:rPr>
              <a:t>Docs, tests, telemetry, and onboarding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A5755-A6AB-41BA-AFF0-055C98B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Source snapshot f3c5199</a:t>
            </a:r>
          </a:p>
        </p:txBody>
      </p:sp>
    </p:spTree>
    <p:extLst>
      <p:ext uri="{BB962C8B-B14F-4D97-AF65-F5344CB8AC3E}">
        <p14:creationId xmlns:p14="http://schemas.microsoft.com/office/powerpoint/2010/main" val="705050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DD7B4E-5D6A-4B23-9ED0-823EC28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3A03-2B4D-44A8-A6C0-4EA15553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114EB-AE18-4511-983C-483B016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42B16-4CF6-4AAF-AB3D-287FE839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16DA-A3E4-4E18-8298-DDE86F2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07049-EACE-4BF0-A5DD-41291D4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2993A-DB9D-4395-BCB0-6038B21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F99B8-39DC-473D-9408-446559E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0E198-7DE2-4107-80BA-B62278F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86996-F671-4F48-8D64-E9664CD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CC4A4-D154-4462-8E92-03C8A0C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05190-CF84-43BD-8451-D3DDCED8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BEE88-080F-43DF-AB1A-A89C95E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0EB57-E1B1-46E6-BE1E-83D2D6E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AEF26-ECAF-4027-8026-4498EA9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5F592-F3FC-46F3-ABCD-FC343B23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86625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977AD-08AA-46B0-B656-A2286499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595"/>
                </a:solidFill>
              </a:defRPr>
            </a:pPr>
            <a:r>
              <a:rPr sz="1050" b="1">
                <a:solidFill>
                  <a:srgbClr val="007595"/>
                </a:solidFill>
              </a:rPr>
              <a:t>FUTURE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966C2-003A-4025-8EAA-698ACF7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Stage 2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5B6C3-B777-47D9-ACE7-3289B28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Make the robot lighter, safer, and more dynamic. Advance only when evidence gates pass: source review, simulation, bench test, then hardware walking.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54076-96AC-40A0-AEF6-7B0773B1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190750" cy="2952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F87E1-01D5-490F-8001-70B0BB3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1.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15DD5-781C-423F-B197-FB6CA2BF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Repeat reverse walking; log telemetry; define pass/fail criteria.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F0530-AE9F-4AD2-8D3C-4AA89A62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2190750" cy="2952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E807B-E357-4058-9CB0-D2634B78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2. Hardware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7B173-18C1-4BF5-BCB3-2E60F15E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290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Reduce mass/inertia; characterize actuators; validate gear ratios, signs, limits, and thermal behavior.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490CB-4C1E-417A-9F05-3B86CF6B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190750" cy="2952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12745-9446-4159-97E6-731AF82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3. Low-level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DA3AC-2385-4C4A-BD39-D39223E8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Bring up validated MIT-style torque/impedance mode with watchdogs and stale-target clearing.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7C5CA-4FF9-4808-9A63-F67A013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2190750" cy="2952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53EA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F6FB7-A43D-4A2D-8E04-1CB4E34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4. Model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3C666-FCF4-431F-92E3-891AEED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290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Add state estimation, body dynamics, contact assumptions, and MPC preview planning.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B23B7-848A-4427-A74B-C9C0035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571750"/>
            <a:ext cx="2190750" cy="2952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457AF-102F-4E9F-9395-35C3B2A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5. Expand gaits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69A9F-48EE-4E01-8175-F92AECC8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4290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Reverse -&gt; forward -&gt; lateral -&gt; yaw -&gt; transitions -&gt; disturbance tests.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6AA9D-DA52-43C4-B5B0-D6AC46B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34125"/>
            <a:ext cx="11906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FD2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90C19-A682-4086-AACE-7B737C71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505575"/>
            <a:ext cx="1148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4D00"/>
                </a:solidFill>
              </a:defRPr>
            </a:pPr>
            <a:r>
              <a:rPr sz="1200" b="1">
                <a:solidFill>
                  <a:srgbClr val="BB4D00"/>
                </a:solidFill>
              </a:rPr>
              <a:t>Stage 2 decision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C1066-CCEE-41C6-A534-CE065D0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848475"/>
            <a:ext cx="1148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B"/>
                </a:solidFill>
              </a:defRPr>
            </a:pPr>
            <a:r>
              <a:rPr sz="1350" b="0">
                <a:solidFill>
                  <a:srgbClr val="0F172B"/>
                </a:solidFill>
              </a:rPr>
              <a:t>Do not upgrade the controller faster than the evidence: compile -&gt; simulate -&gt; bench -&gt; tethered hardware -&gt; untethered demo.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1CC58B-2933-49B8-BDB1-9FCA0455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C++ repo snapshot f3c5199 | teammate onboarding | Aug 29, 2026</a:t>
            </a:r>
          </a:p>
        </p:txBody>
      </p:sp>
    </p:spTree>
    <p:extLst>
      <p:ext uri="{BB962C8B-B14F-4D97-AF65-F5344CB8AC3E}">
        <p14:creationId xmlns:p14="http://schemas.microsoft.com/office/powerpoint/2010/main" val="1081895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2026-08-28T11:02:23.3210000Z</dcterms:created>
  <dcterms:modified xsi:type="dcterms:W3CDTF">2026-08-28T11:02:23.3210000Z</dcterms:modified>
</coreProperties>
</file>